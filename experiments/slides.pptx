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248D-0D6B-405C-8CA4-A747EC22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B962B-EE17-4D56-9004-A90155EA8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9986B-5A96-425A-B193-BCA59276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CFA0C-0DCB-4101-922D-39F3DC0D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F57F7-AC0F-40EA-B797-D5CBDE5D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0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8608-D201-4266-A2B7-153608E2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B59E-CE5B-4A60-A52E-AE462FE0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0DCA4-19A0-46BC-ABCA-67E48F3B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44DC2-3D3A-42E1-BB8D-41997031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EB9DD-43EC-4A07-9F2F-07C5B343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5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9F83-2515-4C02-9796-5B5578A0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D46E7-0D52-4192-89AE-92C3DB7FF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76AA2-3750-490A-9E99-1885B5B36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9AE58-70E4-45C9-8185-441F0261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53439-A71F-4064-91D6-F9DC2638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8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5BC6-4989-41C7-9E00-49047450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41BF-2C12-4E3B-AA48-936EFCA7D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149E4-5609-4FDF-AFA2-F2D7CAC22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00E71-2826-4224-8D33-786615E8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CB10F-EC8A-4F82-BDD8-E4F5A551C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9E44-A751-4BBB-9A4B-69692CDA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3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B8A3-FF42-4BD9-B39E-03BA7B4F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FDA45-1EB7-473F-A574-6A3118966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B1409-DFA4-42A3-AB8D-7AFE90779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E7F43-809F-4863-983D-DF048262B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AD2FE-1E4B-44B1-81CA-E2CA5E2AE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A69AD-7157-40DB-9500-5F1A736E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9B4D0-A2EB-41B1-9F45-5EA025C7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6AE1A-5858-4D61-9143-AB2493D2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0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9CDB-F42B-4E74-B7BB-B6CFB9FF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B80CA-2A53-4DAC-A88C-47D58446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FFF32-118F-4CD2-B3CB-41B68521B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D35EB-0BA6-407F-9DC4-ED658C8C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30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AFDB45-C035-42CB-8483-AE71C613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9A032-5C10-4A45-A50A-D7AE5487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4CFCF-BA52-44E7-B61B-F5B42EE4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1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1776-6B8F-411B-8264-67A69FFF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127C-5861-439C-9FCE-48701EDEE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99EC3-B446-4996-AA2C-A990EF422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FA682-019E-49D5-8899-9A9780E3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FD4E-FA51-44AE-9D38-4C6F6081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DD13A-47FD-42ED-93E6-E3373402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6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2AC5-8F8D-4037-8AB4-E5D29E82B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51EF8-E4F4-4DB8-9FE9-F81DF6BED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9E197-FE5A-41E9-89ED-509901017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B12F9-902B-417F-8A38-A2C8EA6F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BAF64-B0D7-4660-80BD-7E577635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5B4F-EE3C-4D74-A7C7-CBFF8A92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3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DA65-8933-4F7A-8765-6E18E1D9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624E2-B3B4-48B9-8EBE-AC1D35DFC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2AFB-5929-45C9-9FDF-E2099AEF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B94B8-9CC1-48D7-802A-8D9DADBC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62C8-0814-4F72-81C5-CEADCBA0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5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5F1B3-46A7-4C2D-8C07-FCE3007AC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56E5D-B7AF-4EF8-AA79-032F2544F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58B3E-08BF-4A46-B240-68136468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62DA9-AE59-475E-B418-718F2DA3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1488B-F3F9-484C-9E75-660852D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180F0-A32B-49DF-8416-42991252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E7531-71B0-4AB0-991F-773352D16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6EC1-5F18-41F2-9CCD-D682A0523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B314A-1887-4C81-A247-CC72029A867C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EE600-DB93-4E88-8DFD-C84E5E045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094A2-971B-4FF8-A719-A783044DA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47552-344D-4453-BB1A-B8A4A0456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9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80C3D0-F9E0-4670-BA68-39ACDFB18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583856"/>
              </p:ext>
            </p:extLst>
          </p:nvPr>
        </p:nvGraphicFramePr>
        <p:xfrm>
          <a:off x="565078" y="574158"/>
          <a:ext cx="10971247" cy="5984923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720382">
                  <a:extLst>
                    <a:ext uri="{9D8B030D-6E8A-4147-A177-3AD203B41FA5}">
                      <a16:colId xmlns:a16="http://schemas.microsoft.com/office/drawing/2014/main" val="2421536515"/>
                    </a:ext>
                  </a:extLst>
                </a:gridCol>
                <a:gridCol w="1458566">
                  <a:extLst>
                    <a:ext uri="{9D8B030D-6E8A-4147-A177-3AD203B41FA5}">
                      <a16:colId xmlns:a16="http://schemas.microsoft.com/office/drawing/2014/main" val="2179194749"/>
                    </a:ext>
                  </a:extLst>
                </a:gridCol>
                <a:gridCol w="1517428">
                  <a:extLst>
                    <a:ext uri="{9D8B030D-6E8A-4147-A177-3AD203B41FA5}">
                      <a16:colId xmlns:a16="http://schemas.microsoft.com/office/drawing/2014/main" val="2476200167"/>
                    </a:ext>
                  </a:extLst>
                </a:gridCol>
                <a:gridCol w="1627904">
                  <a:extLst>
                    <a:ext uri="{9D8B030D-6E8A-4147-A177-3AD203B41FA5}">
                      <a16:colId xmlns:a16="http://schemas.microsoft.com/office/drawing/2014/main" val="352293412"/>
                    </a:ext>
                  </a:extLst>
                </a:gridCol>
                <a:gridCol w="1509823">
                  <a:extLst>
                    <a:ext uri="{9D8B030D-6E8A-4147-A177-3AD203B41FA5}">
                      <a16:colId xmlns:a16="http://schemas.microsoft.com/office/drawing/2014/main" val="3525840813"/>
                    </a:ext>
                  </a:extLst>
                </a:gridCol>
                <a:gridCol w="2137144">
                  <a:extLst>
                    <a:ext uri="{9D8B030D-6E8A-4147-A177-3AD203B41FA5}">
                      <a16:colId xmlns:a16="http://schemas.microsoft.com/office/drawing/2014/main" val="3011171226"/>
                    </a:ext>
                  </a:extLst>
                </a:gridCol>
              </a:tblGrid>
              <a:tr h="61407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PROMPT </a:t>
                      </a: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 err="1">
                          <a:effectLst/>
                        </a:rPr>
                        <a:t>cosine_score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 err="1">
                          <a:effectLst/>
                        </a:rPr>
                        <a:t>spice_score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 err="1">
                          <a:effectLst/>
                        </a:rPr>
                        <a:t>cider_score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 err="1">
                          <a:effectLst/>
                        </a:rPr>
                        <a:t>vram_usage</a:t>
                      </a:r>
                      <a:r>
                        <a:rPr lang="en-US" sz="1800" b="0" u="none" strike="noStrike" dirty="0">
                          <a:effectLst/>
                        </a:rPr>
                        <a:t> (MB)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 err="1">
                          <a:effectLst/>
                        </a:rPr>
                        <a:t>inference_time_s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288894360"/>
                  </a:ext>
                </a:extLst>
              </a:tr>
              <a:tr h="5687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an image of...,</a:t>
                      </a:r>
                      <a:endParaRPr lang="en-US" sz="140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0.792404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0.273872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2.62938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7119.807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4.815422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1011898012"/>
                  </a:ext>
                </a:extLst>
              </a:tr>
              <a:tr h="76958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Describe &amp;&amp;damage 12 sedan drive’ this !!image.,</a:t>
                      </a:r>
                      <a:endParaRPr lang="en-US" sz="140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0.770708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0.244426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2.633618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7122.114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4.615383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2650271464"/>
                  </a:ext>
                </a:extLst>
              </a:tr>
              <a:tr h="125154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Explain the visible damage to this vehicle. Question: What areas are affected and how severe is the damage? Answer:,</a:t>
                      </a:r>
                      <a:endParaRPr lang="en-US" sz="140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0.767037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0.214992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2.381015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7124.445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5.118402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1436468721"/>
                  </a:ext>
                </a:extLst>
              </a:tr>
              <a:tr h="82983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You are an insurance claims assessor. Provide a detailed description of the car’s condition.,</a:t>
                      </a:r>
                      <a:endParaRPr lang="en-US" sz="140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0.74934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0.247254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2.57149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7123.522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5.100806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433297300"/>
                  </a:ext>
                </a:extLst>
              </a:tr>
              <a:tr h="92957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>
                          <a:effectLst/>
                        </a:rPr>
                        <a:t>This \&lt;part\_1&gt; of the car has \&lt;damage_type\_1&gt; . The severity appears to be \&lt;severity\_1&gt;. Additional notes: \&lt;text\_1&gt;.,</a:t>
                      </a:r>
                      <a:endParaRPr lang="en-US" sz="140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0.785908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0.265792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2.592878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7127.542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>
                          <a:effectLst/>
                        </a:rPr>
                        <a:t>4.754076</a:t>
                      </a:r>
                      <a:endParaRPr lang="en-US" sz="1800" b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460409000"/>
                  </a:ext>
                </a:extLst>
              </a:tr>
              <a:tr h="97040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strike="noStrike" dirty="0">
                          <a:effectLst/>
                        </a:rPr>
                        <a:t>Describe the damage in the following format – Damage Type: \_\_\_; Affected Part: \_\_\_; Severity: \_\_\_; Notes: \_\_\_</a:t>
                      </a:r>
                      <a:endParaRPr lang="en-US" sz="140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effectLst/>
                        </a:rPr>
                        <a:t>0.759719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effectLst/>
                        </a:rPr>
                        <a:t>0.233936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effectLst/>
                        </a:rPr>
                        <a:t>2.546086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effectLst/>
                        </a:rPr>
                        <a:t>7127.225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u="none" strike="noStrike" dirty="0">
                          <a:effectLst/>
                        </a:rPr>
                        <a:t>4.527641</a:t>
                      </a:r>
                      <a:endParaRPr lang="en-US" sz="1800" b="0" dirty="0">
                        <a:effectLst/>
                      </a:endParaRPr>
                    </a:p>
                  </a:txBody>
                  <a:tcPr marL="48177" marR="48177" marT="48177" marB="48177"/>
                </a:tc>
                <a:extLst>
                  <a:ext uri="{0D108BD9-81ED-4DB2-BD59-A6C34878D82A}">
                    <a16:rowId xmlns:a16="http://schemas.microsoft.com/office/drawing/2014/main" val="414698922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D044CB3-6546-4928-BBE7-D19C3AE9D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66310" y="1556596"/>
            <a:ext cx="30477099" cy="602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BD5DB-66DB-4E36-8CB1-AE6B596DBAF0}"/>
              </a:ext>
            </a:extLst>
          </p:cNvPr>
          <p:cNvSpPr txBox="1"/>
          <p:nvPr/>
        </p:nvSpPr>
        <p:spPr>
          <a:xfrm>
            <a:off x="565077" y="127590"/>
            <a:ext cx="584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 Damage Dataset trained on Qwen2-VL-7B-Instruct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151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5A5EB2-A595-4C01-9D44-7106FC54A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35207"/>
              </p:ext>
            </p:extLst>
          </p:nvPr>
        </p:nvGraphicFramePr>
        <p:xfrm>
          <a:off x="614736" y="801384"/>
          <a:ext cx="10962528" cy="571060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827088">
                  <a:extLst>
                    <a:ext uri="{9D8B030D-6E8A-4147-A177-3AD203B41FA5}">
                      <a16:colId xmlns:a16="http://schemas.microsoft.com/office/drawing/2014/main" val="1297850621"/>
                    </a:ext>
                  </a:extLst>
                </a:gridCol>
                <a:gridCol w="1827088">
                  <a:extLst>
                    <a:ext uri="{9D8B030D-6E8A-4147-A177-3AD203B41FA5}">
                      <a16:colId xmlns:a16="http://schemas.microsoft.com/office/drawing/2014/main" val="923565718"/>
                    </a:ext>
                  </a:extLst>
                </a:gridCol>
                <a:gridCol w="1827088">
                  <a:extLst>
                    <a:ext uri="{9D8B030D-6E8A-4147-A177-3AD203B41FA5}">
                      <a16:colId xmlns:a16="http://schemas.microsoft.com/office/drawing/2014/main" val="1970154267"/>
                    </a:ext>
                  </a:extLst>
                </a:gridCol>
                <a:gridCol w="1827088">
                  <a:extLst>
                    <a:ext uri="{9D8B030D-6E8A-4147-A177-3AD203B41FA5}">
                      <a16:colId xmlns:a16="http://schemas.microsoft.com/office/drawing/2014/main" val="3203728653"/>
                    </a:ext>
                  </a:extLst>
                </a:gridCol>
                <a:gridCol w="1827088">
                  <a:extLst>
                    <a:ext uri="{9D8B030D-6E8A-4147-A177-3AD203B41FA5}">
                      <a16:colId xmlns:a16="http://schemas.microsoft.com/office/drawing/2014/main" val="2218687316"/>
                    </a:ext>
                  </a:extLst>
                </a:gridCol>
                <a:gridCol w="1827088">
                  <a:extLst>
                    <a:ext uri="{9D8B030D-6E8A-4147-A177-3AD203B41FA5}">
                      <a16:colId xmlns:a16="http://schemas.microsoft.com/office/drawing/2014/main" val="538482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PROMPT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cosine_score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spice_score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cider_score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vram_usage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 err="1">
                          <a:effectLst/>
                        </a:rPr>
                        <a:t>inference_time_s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20991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an image of…,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0.568409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0.428571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3.645108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6935.378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0.828839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extLst>
                  <a:ext uri="{0D108BD9-81ED-4DB2-BD59-A6C34878D82A}">
                    <a16:rowId xmlns:a16="http://schemas.microsoft.com/office/drawing/2014/main" val="2071359221"/>
                  </a:ext>
                </a:extLst>
              </a:tr>
              <a:tr h="6677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How many people are playing soccer in this scene?,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0.525609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0.236712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1.587226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6939.374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1.332398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extLst>
                  <a:ext uri="{0D108BD9-81ED-4DB2-BD59-A6C34878D82A}">
                    <a16:rowId xmlns:a16="http://schemas.microsoft.com/office/drawing/2014/main" val="1545130345"/>
                  </a:ext>
                </a:extLst>
              </a:tr>
              <a:tr h="17477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You are an observer describing the scene. Explain what is happening, focusing on the actions of people, animals, or objects as if you were narrating it for someone else.,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0.529032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0.222448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1.66049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6945.275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1.365025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extLst>
                  <a:ext uri="{0D108BD9-81ED-4DB2-BD59-A6C34878D82A}">
                    <a16:rowId xmlns:a16="http://schemas.microsoft.com/office/drawing/2014/main" val="3017283121"/>
                  </a:ext>
                </a:extLst>
              </a:tr>
              <a:tr h="15816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Imagine you are a guide or commentator. Describe how a &lt;text_1&gt; is interacting with a &lt;text_2&gt; in the environment, providing context and details.,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0.529864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0.218992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1.630454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6945.045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1.272364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b"/>
                </a:tc>
                <a:extLst>
                  <a:ext uri="{0D108BD9-81ED-4DB2-BD59-A6C34878D82A}">
                    <a16:rowId xmlns:a16="http://schemas.microsoft.com/office/drawing/2014/main" val="3569527636"/>
                  </a:ext>
                </a:extLst>
              </a:tr>
              <a:tr h="11863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Describe using format - Subject: ___; Activity: ___; Environment: ___; Additional Notes: ___;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0.531201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0.227345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1.642187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6943.812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1.310452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58" marR="2558" marT="2558" marB="0" anchor="ctr"/>
                </a:tc>
                <a:extLst>
                  <a:ext uri="{0D108BD9-81ED-4DB2-BD59-A6C34878D82A}">
                    <a16:rowId xmlns:a16="http://schemas.microsoft.com/office/drawing/2014/main" val="33821114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E1F4F-84C9-4641-AB72-06179F3A0976}"/>
              </a:ext>
            </a:extLst>
          </p:cNvPr>
          <p:cNvSpPr txBox="1"/>
          <p:nvPr/>
        </p:nvSpPr>
        <p:spPr>
          <a:xfrm>
            <a:off x="614735" y="195209"/>
            <a:ext cx="495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Flickr dataset evaluated on Qwen2-VL-7B-Instruct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078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317</Words>
  <Application>Microsoft Office PowerPoint</Application>
  <PresentationFormat>Widescreen</PresentationFormat>
  <Paragraphs>80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Ushari Ranasinghe</dc:creator>
  <cp:lastModifiedBy>Ushari Ranasinghe</cp:lastModifiedBy>
  <cp:revision>2</cp:revision>
  <dcterms:created xsi:type="dcterms:W3CDTF">2025-09-26T12:12:35Z</dcterms:created>
  <dcterms:modified xsi:type="dcterms:W3CDTF">2025-09-26T12:30:44Z</dcterms:modified>
</cp:coreProperties>
</file>